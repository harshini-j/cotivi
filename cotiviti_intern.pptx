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62"/>
    <p:restoredTop sz="69771"/>
  </p:normalViewPr>
  <p:slideViewPr>
    <p:cSldViewPr snapToGrid="0" snapToObjects="1">
      <p:cViewPr varScale="1">
        <p:scale>
          <a:sx n="82" d="100"/>
          <a:sy n="82" d="100"/>
        </p:scale>
        <p:origin x="10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1873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COTIVITI INTERN 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515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Natural Language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 in Health Care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3375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Trends, strategic opportunities, and a working proof of concept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Cotiviti's chart-based payment integrity workflows.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343400"/>
            <a:ext cx="1280160" cy="0"/>
          </a:xfrm>
          <a:prstGeom prst="line">
            <a:avLst/>
          </a:prstGeom>
          <a:noFill/>
          <a:ln w="25400">
            <a:solidFill>
              <a:srgbClr val="4FD1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report  ·  hackathon POC  ·  slide deck  ·  video walkthrough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6172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Harshini Jegannath   ·   The University of Chicago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clinical NLP?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NLP converts unstructured medical text — physician notes, discharge summaries, pathology and radiology reports — into structured, machine-usable data. The field has moved from rule-based extraction to transformer-based machine learning, and now spans four connected technologies: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2487168" cy="3429000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DCE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606040"/>
            <a:ext cx="502920" cy="502920"/>
          </a:xfrm>
          <a:prstGeom prst="ellipse">
            <a:avLst/>
          </a:prstGeom>
          <a:solidFill>
            <a:srgbClr val="0B7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2461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NLP / NLU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3703320"/>
            <a:ext cx="2057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meaning and relationships in free text — diagnoses, medications, negation, context.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01568" y="2331720"/>
            <a:ext cx="2487168" cy="3429000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DCE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30168" y="2606040"/>
            <a:ext cx="502920" cy="502920"/>
          </a:xfrm>
          <a:prstGeom prst="ellipse">
            <a:avLst/>
          </a:prstGeom>
          <a:solidFill>
            <a:srgbClr val="0B7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30168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30168" y="32461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30168" y="3703320"/>
            <a:ext cx="2057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Digitizes scanned charts, faxed records, and handwritten forms into readable text.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63056" y="2331720"/>
            <a:ext cx="2487168" cy="3429000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DCE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391656" y="2606040"/>
            <a:ext cx="502920" cy="502920"/>
          </a:xfrm>
          <a:prstGeom prst="ellipse">
            <a:avLst/>
          </a:prstGeom>
          <a:solidFill>
            <a:srgbClr val="0B7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91656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91656" y="32461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 vision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91656" y="3703320"/>
            <a:ext cx="2057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embedded tables, images, and annotations inside clinical documents.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24544" y="2331720"/>
            <a:ext cx="2487168" cy="3429000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DCE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153144" y="2606040"/>
            <a:ext cx="502920" cy="502920"/>
          </a:xfrm>
          <a:prstGeom prst="ellipse">
            <a:avLst/>
          </a:prstGeom>
          <a:solidFill>
            <a:srgbClr val="0B7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53144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53144" y="32461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/ LMM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53144" y="3703320"/>
            <a:ext cx="2057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increasingly multimodal models that read, summarize, and reason across text and image together.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technology is heading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931920" cy="2011680"/>
          </a:xfrm>
          <a:prstGeom prst="roundRect">
            <a:avLst>
              <a:gd name="adj" fmla="val 4545"/>
            </a:avLst>
          </a:prstGeom>
          <a:solidFill>
            <a:srgbClr val="1218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8680" y="16459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D1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$8.1B → $30.1B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68680" y="2423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NLP market, 2026 → 2031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7889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~30% CAGR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92040" y="1435608"/>
            <a:ext cx="365760" cy="365760"/>
          </a:xfrm>
          <a:prstGeom prst="ellipse">
            <a:avLst/>
          </a:prstGeom>
          <a:solidFill>
            <a:srgbClr val="0B7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92040" y="1435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40680" y="137160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Ambient clinical intelligence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40680" y="1764792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that passively listen to and document patient encounters, reducing physician documentation burden.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92040" y="2487168"/>
            <a:ext cx="365760" cy="365760"/>
          </a:xfrm>
          <a:prstGeom prst="ellipse">
            <a:avLst/>
          </a:prstGeom>
          <a:solidFill>
            <a:srgbClr val="0B7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92040" y="24871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40680" y="242316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RAG-grounded LLMs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40680" y="2816352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Healthcare-specific models paired with retrieval-augmented generation so outputs are grounded in source documents, the fastest-growing technology segment through 2031.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92040" y="3538728"/>
            <a:ext cx="365760" cy="365760"/>
          </a:xfrm>
          <a:prstGeom prst="ellipse">
            <a:avLst/>
          </a:prstGeom>
          <a:solidFill>
            <a:srgbClr val="0B7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92040" y="3538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40680" y="347472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40680" y="3867912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movement toward multi-step, autonomous execution of clinical and administrative workflows.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703320"/>
            <a:ext cx="3931920" cy="2148840"/>
          </a:xfrm>
          <a:prstGeom prst="roundRect">
            <a:avLst>
              <a:gd name="adj" fmla="val 4255"/>
            </a:avLst>
          </a:prstGeom>
          <a:solidFill>
            <a:srgbClr val="FBF0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8680" y="38862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7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risk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425196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6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— clinically plausible but factually incorrect output — is now the leading implementation risk. Human-in-the-loop review is required infrastructure, not an optional safeguard.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Opportunities and threats for Cotiviti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NLP is not adjacent to Cotiviti's business — it is the engine underneath chart-based DRG, coding, and COB validation.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E7F1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7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Shorten chart review cycles and extend review coverage to more claims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consistency of coding and DRG validation at scale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 an existing edge: time-to-results already cut from 90+ days to under 5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 reviewer capacity pressure as claim volumes keep growing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89320" y="1828800"/>
            <a:ext cx="5440680" cy="4206240"/>
          </a:xfrm>
          <a:prstGeom prst="roundRect">
            <a:avLst>
              <a:gd name="adj" fmla="val 2174"/>
            </a:avLst>
          </a:prstGeom>
          <a:solidFill>
            <a:srgbClr val="FBE9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63640" y="2057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63640" y="251460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and health plans can stand up “good enough” LLM review faster than Cotiviti's 20+ years of rules engines can be replicated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Hallucinated or misread clinical evidence could itself cause inappropriate denials or missed savings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Tightening AI regulation raises compliance and auditability requirements for any system touching payment decisions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 in a RAG-grounded, human-in-the-loop</a:t>
            </a:r>
            <a:endParaRPr lang="en-US" sz="2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NLP layer for chart-based coding and DRG validation.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3520440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1A2227"/>
          </a:solidFill>
          <a:ln w="12700">
            <a:solidFill>
              <a:srgbClr val="2C38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361188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D1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every extraction in cited source text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212080" y="361188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Counters hallucination risk and preserves the auditability payers require.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4572000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1A2227"/>
          </a:solidFill>
          <a:ln w="12700">
            <a:solidFill>
              <a:srgbClr val="2C38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466344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D1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on a high-volume, well-defined review type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212080" y="466344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DRG or COB validation before wider rollout.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5623560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1A2227"/>
          </a:solidFill>
          <a:ln w="12700">
            <a:solidFill>
              <a:srgbClr val="2C38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571500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D1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a human reviewer in the loop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12080" y="571500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the industry's generative AI shift into a widening of Cotiviti's existing accuracy advantage.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Hackathon POC — chart evidence extractor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single-file web demo with two extraction engines: an offline keyword baseline, and a live Claude API call that returns cited findings, each checked against the source note before being trusted — the same RAG-grounding pattern the recommendation scales up.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6309360" cy="4114800"/>
          </a:xfrm>
          <a:prstGeom prst="roundRect">
            <a:avLst>
              <a:gd name="adj" fmla="val 1778"/>
            </a:avLst>
          </a:prstGeom>
          <a:solidFill>
            <a:srgbClr val="1218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2148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NOTE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58521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250" dirty="0">
                <a:solidFill>
                  <a:srgbClr val="5C6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 admitted with </a:t>
            </a:r>
            <a:r>
              <a:rPr lang="en-US" sz="1250" b="1" dirty="0">
                <a:solidFill>
                  <a:srgbClr val="12181C"/>
                </a:solidFill>
                <a:highlight>
                  <a:srgbClr val="4FD1C5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community-acquired pneumonia</a:t>
            </a:r>
            <a:r>
              <a:rPr lang="en-US" sz="1250" dirty="0">
                <a:solidFill>
                  <a:srgbClr val="5C6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and </a:t>
            </a:r>
            <a:r>
              <a:rPr lang="en-US" sz="1250" b="1" dirty="0">
                <a:solidFill>
                  <a:srgbClr val="12181C"/>
                </a:solidFill>
                <a:highlight>
                  <a:srgbClr val="4FD1C5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acute respiratory failure</a:t>
            </a:r>
            <a:r>
              <a:rPr lang="en-US" sz="1250" dirty="0">
                <a:solidFill>
                  <a:srgbClr val="5C6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History of </a:t>
            </a:r>
            <a:r>
              <a:rPr lang="en-US" sz="1250" b="1" dirty="0">
                <a:solidFill>
                  <a:srgbClr val="12181C"/>
                </a:solidFill>
                <a:highlight>
                  <a:srgbClr val="B8A6F2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2 diabetes</a:t>
            </a:r>
            <a:r>
              <a:rPr lang="en-US" sz="1250" dirty="0">
                <a:solidFill>
                  <a:srgbClr val="5C6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managed on </a:t>
            </a:r>
            <a:r>
              <a:rPr lang="en-US" sz="1250" b="1" dirty="0">
                <a:solidFill>
                  <a:srgbClr val="12181C"/>
                </a:solidFill>
                <a:highlight>
                  <a:srgbClr val="B8A6F2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metformin</a:t>
            </a:r>
            <a:r>
              <a:rPr lang="en-US" sz="1250" dirty="0">
                <a:solidFill>
                  <a:srgbClr val="5C6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and </a:t>
            </a:r>
            <a:r>
              <a:rPr lang="en-US" sz="1250" b="1" dirty="0">
                <a:solidFill>
                  <a:srgbClr val="12181C"/>
                </a:solidFill>
                <a:highlight>
                  <a:srgbClr val="B8A6F2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insulin</a:t>
            </a:r>
            <a:r>
              <a:rPr lang="en-US" sz="1250" dirty="0">
                <a:solidFill>
                  <a:srgbClr val="5C6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Blood pressure elevated, </a:t>
            </a:r>
            <a:r>
              <a:rPr lang="en-US" sz="1250" b="1" dirty="0">
                <a:solidFill>
                  <a:srgbClr val="12181C"/>
                </a:solidFill>
                <a:highlight>
                  <a:srgbClr val="C97B0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possible</a:t>
            </a:r>
            <a:r>
              <a:rPr lang="en-US" sz="1250" dirty="0">
                <a:solidFill>
                  <a:srgbClr val="5C6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early sepsis, treated with </a:t>
            </a:r>
            <a:r>
              <a:rPr lang="en-US" sz="1250" b="1" dirty="0">
                <a:solidFill>
                  <a:srgbClr val="12181C"/>
                </a:solidFill>
                <a:highlight>
                  <a:srgbClr val="B8A6F2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vancomycin</a:t>
            </a:r>
            <a:r>
              <a:rPr lang="en-US" sz="1250" dirty="0">
                <a:solidFill>
                  <a:srgbClr val="5C6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178040" y="1965960"/>
            <a:ext cx="434340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CE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06640" y="2148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 ·  claude-sonnet-4-6, verified against source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406640" y="2514600"/>
            <a:ext cx="3886200" cy="777240"/>
          </a:xfrm>
          <a:prstGeom prst="roundRect">
            <a:avLst>
              <a:gd name="adj" fmla="val 7059"/>
            </a:avLst>
          </a:prstGeom>
          <a:solidFill>
            <a:srgbClr val="F4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589520" y="257860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community-acquired pneumonia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89520" y="292608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diagnosis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06640" y="3410712"/>
            <a:ext cx="3886200" cy="777240"/>
          </a:xfrm>
          <a:prstGeom prst="roundRect">
            <a:avLst>
              <a:gd name="adj" fmla="val 7059"/>
            </a:avLst>
          </a:prstGeom>
          <a:solidFill>
            <a:srgbClr val="FBF0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589520" y="3474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2 diabetes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589520" y="382219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7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diagnosis · history of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406640" y="4306824"/>
            <a:ext cx="3886200" cy="777240"/>
          </a:xfrm>
          <a:prstGeom prst="roundRect">
            <a:avLst>
              <a:gd name="adj" fmla="val 7059"/>
            </a:avLst>
          </a:prstGeom>
          <a:solidFill>
            <a:srgbClr val="FBF0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589520" y="437083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early sepsis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589520" y="471830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7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diagnosis · qualifier: verify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406640" y="5202936"/>
            <a:ext cx="3886200" cy="777240"/>
          </a:xfrm>
          <a:prstGeom prst="roundRect">
            <a:avLst>
              <a:gd name="adj" fmla="val 7059"/>
            </a:avLst>
          </a:prstGeom>
          <a:solidFill>
            <a:srgbClr val="F4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589520" y="526694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vancomycin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89520" y="561441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medication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3832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Report, POC source, this deck, and video walkthrough are included in the submitted repository.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4160520"/>
            <a:ext cx="1280160" cy="0"/>
          </a:xfrm>
          <a:prstGeom prst="line">
            <a:avLst/>
          </a:prstGeom>
          <a:noFill/>
          <a:ln w="25400">
            <a:solidFill>
              <a:srgbClr val="4FD1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github.com/your-username/your-repo 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625</Words>
  <Application>Microsoft Macintosh PowerPoint</Application>
  <PresentationFormat>Widescreen</PresentationFormat>
  <Paragraphs>79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x65105@365mmt.com</cp:lastModifiedBy>
  <cp:revision>2</cp:revision>
  <dcterms:created xsi:type="dcterms:W3CDTF">2026-08-19T18:20:42Z</dcterms:created>
  <dcterms:modified xsi:type="dcterms:W3CDTF">2026-08-20T02:43:06Z</dcterms:modified>
</cp:coreProperties>
</file>